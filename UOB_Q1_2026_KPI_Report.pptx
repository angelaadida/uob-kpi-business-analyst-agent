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40080" y="1554480"/>
            <a:ext cx="10881360" cy="548640"/>
          </a:xfrm>
          <a:prstGeom prst="rect">
            <a:avLst/>
          </a:prstGeom>
          <a:noFill/>
          <a:ln/>
        </p:spPr>
        <p:txBody>
          <a:bodyPr wrap="square" rtlCol="0" anchor="ctr"/>
          <a:lstStyle/>
          <a:p>
            <a:pPr indent="0" marL="0">
              <a:buNone/>
            </a:pPr>
            <a:r>
              <a:rPr lang="en-US" sz="2000" b="1" spc="200" kern="0" dirty="0">
                <a:solidFill>
                  <a:srgbClr val="CADCFC"/>
                </a:solidFill>
                <a:latin typeface="Calibri" pitchFamily="34" charset="0"/>
                <a:ea typeface="Calibri" pitchFamily="34" charset="-122"/>
                <a:cs typeface="Calibri" pitchFamily="34" charset="-120"/>
              </a:rPr>
              <a:t>UOB Group</a:t>
            </a:r>
            <a:endParaRPr lang="en-US" sz="2000" dirty="0"/>
          </a:p>
        </p:txBody>
      </p:sp>
      <p:sp>
        <p:nvSpPr>
          <p:cNvPr id="3" name="Text 1"/>
          <p:cNvSpPr/>
          <p:nvPr/>
        </p:nvSpPr>
        <p:spPr>
          <a:xfrm>
            <a:off x="640080" y="2011680"/>
            <a:ext cx="10881360" cy="118872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Q1 2026 KPI Analysis</a:t>
            </a:r>
            <a:endParaRPr lang="en-US" sz="4400" dirty="0"/>
          </a:p>
        </p:txBody>
      </p:sp>
      <p:sp>
        <p:nvSpPr>
          <p:cNvPr id="4" name="Text 2"/>
          <p:cNvSpPr/>
          <p:nvPr/>
        </p:nvSpPr>
        <p:spPr>
          <a:xfrm>
            <a:off x="640080" y="3154680"/>
            <a:ext cx="10881360" cy="457200"/>
          </a:xfrm>
          <a:prstGeom prst="rect">
            <a:avLst/>
          </a:prstGeom>
          <a:noFill/>
          <a:ln/>
        </p:spPr>
        <p:txBody>
          <a:bodyPr wrap="square"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Claude Business Analyst Agent  |  Prepared for Finance Leadership Review</a:t>
            </a:r>
            <a:endParaRPr lang="en-US" sz="1600" dirty="0"/>
          </a:p>
        </p:txBody>
      </p:sp>
      <p:sp>
        <p:nvSpPr>
          <p:cNvPr id="5" name="Shape 3"/>
          <p:cNvSpPr/>
          <p:nvPr/>
        </p:nvSpPr>
        <p:spPr>
          <a:xfrm>
            <a:off x="640080" y="5989320"/>
            <a:ext cx="10881360" cy="0"/>
          </a:xfrm>
          <a:prstGeom prst="line">
            <a:avLst/>
          </a:prstGeom>
          <a:noFill/>
          <a:ln w="12700">
            <a:solidFill>
              <a:srgbClr val="3A4590"/>
            </a:solidFill>
            <a:prstDash val="solid"/>
          </a:ln>
        </p:spPr>
      </p:sp>
      <p:sp>
        <p:nvSpPr>
          <p:cNvPr id="6" name="Text 4"/>
          <p:cNvSpPr/>
          <p:nvPr/>
        </p:nvSpPr>
        <p:spPr>
          <a:xfrm>
            <a:off x="640080" y="6126480"/>
            <a:ext cx="10881360" cy="320040"/>
          </a:xfrm>
          <a:prstGeom prst="rect">
            <a:avLst/>
          </a:prstGeom>
          <a:noFill/>
          <a:ln/>
        </p:spPr>
        <p:txBody>
          <a:bodyPr wrap="square" rtlCol="0" anchor="ctr"/>
          <a:lstStyle/>
          <a:p>
            <a:pPr indent="0" marL="0">
              <a:buNone/>
            </a:pPr>
            <a:r>
              <a:rPr lang="en-US" sz="1100" dirty="0">
                <a:solidFill>
                  <a:srgbClr val="8A94B8"/>
                </a:solidFill>
                <a:latin typeface="Calibri" pitchFamily="34" charset="0"/>
                <a:ea typeface="Calibri" pitchFamily="34" charset="-122"/>
                <a:cs typeface="Calibri" pitchFamily="34" charset="-120"/>
              </a:rPr>
              <a:t>Data as of 1Q2026  ·  Published 2026-05-07  ·  Source: UOB Group Investor Relations (official disclosure)</a:t>
            </a:r>
            <a:endParaRPr lang="en-US" sz="1100" dirty="0"/>
          </a:p>
        </p:txBody>
      </p:sp>
      <p:sp>
        <p:nvSpPr>
          <p:cNvPr id="7" name="Text 5"/>
          <p:cNvSpPr/>
          <p:nvPr/>
        </p:nvSpPr>
        <p:spPr>
          <a:xfrm>
            <a:off x="640080" y="6419088"/>
            <a:ext cx="10881360" cy="320040"/>
          </a:xfrm>
          <a:prstGeom prst="rect">
            <a:avLst/>
          </a:prstGeom>
          <a:noFill/>
          <a:ln/>
        </p:spPr>
        <p:txBody>
          <a:bodyPr wrap="square" rtlCol="0" anchor="ctr"/>
          <a:lstStyle/>
          <a:p>
            <a:pPr indent="0" marL="0">
              <a:buNone/>
            </a:pPr>
            <a:r>
              <a:rPr lang="en-US" sz="900" i="1" dirty="0">
                <a:solidFill>
                  <a:srgbClr val="8A94B8"/>
                </a:solidFill>
                <a:latin typeface="Calibri" pitchFamily="34" charset="0"/>
                <a:ea typeface="Calibri" pitchFamily="34" charset="-122"/>
                <a:cs typeface="Calibri" pitchFamily="34" charset="-120"/>
              </a:rPr>
              <a:t>This report was drafted by an AI model (Claude). It may contain errors or omissions and must be reviewed against the source document before any external use. Not investment advice.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Executive Summary</a:t>
            </a:r>
            <a:endParaRPr lang="en-US" sz="3000" dirty="0"/>
          </a:p>
        </p:txBody>
      </p:sp>
      <p:sp>
        <p:nvSpPr>
          <p:cNvPr id="3" name="Text 1"/>
          <p:cNvSpPr/>
          <p:nvPr/>
        </p:nvSpPr>
        <p:spPr>
          <a:xfrm>
            <a:off x="548640" y="960120"/>
            <a:ext cx="10972800" cy="365760"/>
          </a:xfrm>
          <a:prstGeom prst="rect">
            <a:avLst/>
          </a:prstGeom>
          <a:noFill/>
          <a:ln/>
        </p:spPr>
        <p:txBody>
          <a:bodyPr wrap="square" rtlCol="0" anchor="ctr"/>
          <a:lstStyle/>
          <a:p>
            <a:pPr indent="0" marL="0">
              <a:buNone/>
            </a:pPr>
            <a:r>
              <a:rPr lang="en-US" sz="1500" i="1" dirty="0">
                <a:solidFill>
                  <a:srgbClr val="1E2761"/>
                </a:solidFill>
                <a:latin typeface="Calibri" pitchFamily="34" charset="0"/>
                <a:ea typeface="Calibri" pitchFamily="34" charset="-122"/>
                <a:cs typeface="Calibri" pitchFamily="34" charset="-120"/>
              </a:rPr>
              <a:t>resilient balance sheet, income and margin pressure</a:t>
            </a:r>
            <a:endParaRPr lang="en-US" sz="1500" dirty="0"/>
          </a:p>
        </p:txBody>
      </p:sp>
      <p:sp>
        <p:nvSpPr>
          <p:cNvPr id="4" name="Text 2"/>
          <p:cNvSpPr/>
          <p:nvPr/>
        </p:nvSpPr>
        <p:spPr>
          <a:xfrm>
            <a:off x="548640" y="1417320"/>
            <a:ext cx="10972800" cy="1051560"/>
          </a:xfrm>
          <a:prstGeom prst="rect">
            <a:avLst/>
          </a:prstGeom>
          <a:noFill/>
          <a:ln/>
        </p:spPr>
        <p:txBody>
          <a:bodyPr wrap="square" rtlCol="0" anchor="t"/>
          <a:lstStyle/>
          <a:p>
            <a:pPr indent="0" marL="0">
              <a:buNone/>
            </a:pPr>
            <a:r>
              <a:rPr lang="en-US" sz="1300" dirty="0">
                <a:solidFill>
                  <a:srgbClr val="1C1C2E"/>
                </a:solidFill>
                <a:latin typeface="Calibri" pitchFamily="34" charset="0"/>
                <a:ea typeface="Calibri" pitchFamily="34" charset="-122"/>
                <a:cs typeface="Calibri" pitchFamily="34" charset="-120"/>
              </a:rPr>
              <a:t>UOB Group reported Total Income of S$3,422 million in 1Q2026, down 6% YoY but up 4% QoQ, with Net Profit of S$1,437 million (-4% YoY, +2% QoQ). Balance sheet metrics remained expansionary, with Total Assets up 7% YoY to S$574,233 million and Customer Deposits up 6% YoY, while capital and liquidity ratios stayed above applicable regulatory minimums.</a:t>
            </a:r>
            <a:endParaRPr lang="en-US" sz="1300" dirty="0"/>
          </a:p>
        </p:txBody>
      </p:sp>
      <p:sp>
        <p:nvSpPr>
          <p:cNvPr id="5" name="Shape 3"/>
          <p:cNvSpPr/>
          <p:nvPr/>
        </p:nvSpPr>
        <p:spPr>
          <a:xfrm>
            <a:off x="548640" y="2743200"/>
            <a:ext cx="2606040" cy="1874520"/>
          </a:xfrm>
          <a:prstGeom prst="roundRect">
            <a:avLst>
              <a:gd name="adj" fmla="val 3902"/>
            </a:avLst>
          </a:prstGeom>
          <a:solidFill>
            <a:srgbClr val="F4F6FC"/>
          </a:solidFill>
          <a:ln/>
        </p:spPr>
      </p:sp>
      <p:sp>
        <p:nvSpPr>
          <p:cNvPr id="6" name="Text 4"/>
          <p:cNvSpPr/>
          <p:nvPr/>
        </p:nvSpPr>
        <p:spPr>
          <a:xfrm>
            <a:off x="713232" y="2907792"/>
            <a:ext cx="2276856" cy="320040"/>
          </a:xfrm>
          <a:prstGeom prst="rect">
            <a:avLst/>
          </a:prstGeom>
          <a:noFill/>
          <a:ln/>
        </p:spPr>
        <p:txBody>
          <a:bodyPr wrap="square" rtlCol="0" anchor="ctr"/>
          <a:lstStyle/>
          <a:p>
            <a:pPr indent="0" marL="0">
              <a:buNone/>
            </a:pPr>
            <a:r>
              <a:rPr lang="en-US" sz="1100" b="1" spc="100" kern="0" dirty="0">
                <a:solidFill>
                  <a:srgbClr val="8A94B8"/>
                </a:solidFill>
                <a:latin typeface="Calibri" pitchFamily="34" charset="0"/>
                <a:ea typeface="Calibri" pitchFamily="34" charset="-122"/>
                <a:cs typeface="Calibri" pitchFamily="34" charset="-120"/>
              </a:rPr>
              <a:t>NET PROFIT</a:t>
            </a:r>
            <a:endParaRPr lang="en-US" sz="1100" dirty="0"/>
          </a:p>
        </p:txBody>
      </p:sp>
      <p:sp>
        <p:nvSpPr>
          <p:cNvPr id="7" name="Text 5"/>
          <p:cNvSpPr/>
          <p:nvPr/>
        </p:nvSpPr>
        <p:spPr>
          <a:xfrm>
            <a:off x="713232" y="3246120"/>
            <a:ext cx="2276856"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S$1,437m</a:t>
            </a:r>
            <a:endParaRPr lang="en-US" sz="3000" dirty="0"/>
          </a:p>
        </p:txBody>
      </p:sp>
      <p:sp>
        <p:nvSpPr>
          <p:cNvPr id="8" name="Text 6"/>
          <p:cNvSpPr/>
          <p:nvPr/>
        </p:nvSpPr>
        <p:spPr>
          <a:xfrm>
            <a:off x="713232" y="4114800"/>
            <a:ext cx="2276856" cy="365760"/>
          </a:xfrm>
          <a:prstGeom prst="rect">
            <a:avLst/>
          </a:prstGeom>
          <a:noFill/>
          <a:ln/>
        </p:spPr>
        <p:txBody>
          <a:bodyPr wrap="square" rtlCol="0" anchor="ctr"/>
          <a:lstStyle/>
          <a:p>
            <a:pPr indent="0" marL="0">
              <a:buNone/>
            </a:pPr>
            <a:r>
              <a:rPr lang="en-US" sz="1200" b="1" dirty="0">
                <a:solidFill>
                  <a:srgbClr val="E08E45"/>
                </a:solidFill>
                <a:latin typeface="Calibri" pitchFamily="34" charset="0"/>
                <a:ea typeface="Calibri" pitchFamily="34" charset="-122"/>
                <a:cs typeface="Calibri" pitchFamily="34" charset="-120"/>
              </a:rPr>
              <a:t>+2% QoQ  /  -4% YoY</a:t>
            </a:r>
            <a:endParaRPr lang="en-US" sz="1200" dirty="0"/>
          </a:p>
        </p:txBody>
      </p:sp>
      <p:sp>
        <p:nvSpPr>
          <p:cNvPr id="9" name="Shape 7"/>
          <p:cNvSpPr/>
          <p:nvPr/>
        </p:nvSpPr>
        <p:spPr>
          <a:xfrm>
            <a:off x="3383280" y="2743200"/>
            <a:ext cx="2606040" cy="1874520"/>
          </a:xfrm>
          <a:prstGeom prst="roundRect">
            <a:avLst>
              <a:gd name="adj" fmla="val 3902"/>
            </a:avLst>
          </a:prstGeom>
          <a:solidFill>
            <a:srgbClr val="F4F6FC"/>
          </a:solidFill>
          <a:ln/>
        </p:spPr>
      </p:sp>
      <p:sp>
        <p:nvSpPr>
          <p:cNvPr id="10" name="Text 8"/>
          <p:cNvSpPr/>
          <p:nvPr/>
        </p:nvSpPr>
        <p:spPr>
          <a:xfrm>
            <a:off x="3547872" y="2907792"/>
            <a:ext cx="2276856" cy="320040"/>
          </a:xfrm>
          <a:prstGeom prst="rect">
            <a:avLst/>
          </a:prstGeom>
          <a:noFill/>
          <a:ln/>
        </p:spPr>
        <p:txBody>
          <a:bodyPr wrap="square" rtlCol="0" anchor="ctr"/>
          <a:lstStyle/>
          <a:p>
            <a:pPr indent="0" marL="0">
              <a:buNone/>
            </a:pPr>
            <a:r>
              <a:rPr lang="en-US" sz="1100" b="1" spc="100" kern="0" dirty="0">
                <a:solidFill>
                  <a:srgbClr val="8A94B8"/>
                </a:solidFill>
                <a:latin typeface="Calibri" pitchFamily="34" charset="0"/>
                <a:ea typeface="Calibri" pitchFamily="34" charset="-122"/>
                <a:cs typeface="Calibri" pitchFamily="34" charset="-120"/>
              </a:rPr>
              <a:t>TOTAL ASSETS</a:t>
            </a:r>
            <a:endParaRPr lang="en-US" sz="1100" dirty="0"/>
          </a:p>
        </p:txBody>
      </p:sp>
      <p:sp>
        <p:nvSpPr>
          <p:cNvPr id="11" name="Text 9"/>
          <p:cNvSpPr/>
          <p:nvPr/>
        </p:nvSpPr>
        <p:spPr>
          <a:xfrm>
            <a:off x="3547872" y="3246120"/>
            <a:ext cx="2276856"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S$574,233m</a:t>
            </a:r>
            <a:endParaRPr lang="en-US" sz="3000" dirty="0"/>
          </a:p>
        </p:txBody>
      </p:sp>
      <p:sp>
        <p:nvSpPr>
          <p:cNvPr id="12" name="Text 10"/>
          <p:cNvSpPr/>
          <p:nvPr/>
        </p:nvSpPr>
        <p:spPr>
          <a:xfrm>
            <a:off x="3547872" y="4114800"/>
            <a:ext cx="2276856" cy="365760"/>
          </a:xfrm>
          <a:prstGeom prst="rect">
            <a:avLst/>
          </a:prstGeom>
          <a:noFill/>
          <a:ln/>
        </p:spPr>
        <p:txBody>
          <a:bodyPr wrap="square" rtlCol="0" anchor="ctr"/>
          <a:lstStyle/>
          <a:p>
            <a:pPr indent="0" marL="0">
              <a:buNone/>
            </a:pPr>
            <a:r>
              <a:rPr lang="en-US" sz="1200" b="1" dirty="0">
                <a:solidFill>
                  <a:srgbClr val="3E8E5A"/>
                </a:solidFill>
                <a:latin typeface="Calibri" pitchFamily="34" charset="0"/>
                <a:ea typeface="Calibri" pitchFamily="34" charset="-122"/>
                <a:cs typeface="Calibri" pitchFamily="34" charset="-120"/>
              </a:rPr>
              <a:t>+7% YoY</a:t>
            </a:r>
            <a:endParaRPr lang="en-US" sz="1200" dirty="0"/>
          </a:p>
        </p:txBody>
      </p:sp>
      <p:sp>
        <p:nvSpPr>
          <p:cNvPr id="13" name="Shape 11"/>
          <p:cNvSpPr/>
          <p:nvPr/>
        </p:nvSpPr>
        <p:spPr>
          <a:xfrm>
            <a:off x="6217920" y="2743200"/>
            <a:ext cx="2606040" cy="1874520"/>
          </a:xfrm>
          <a:prstGeom prst="roundRect">
            <a:avLst>
              <a:gd name="adj" fmla="val 3902"/>
            </a:avLst>
          </a:prstGeom>
          <a:solidFill>
            <a:srgbClr val="F4F6FC"/>
          </a:solidFill>
          <a:ln/>
        </p:spPr>
      </p:sp>
      <p:sp>
        <p:nvSpPr>
          <p:cNvPr id="14" name="Text 12"/>
          <p:cNvSpPr/>
          <p:nvPr/>
        </p:nvSpPr>
        <p:spPr>
          <a:xfrm>
            <a:off x="6382512" y="2907792"/>
            <a:ext cx="2276856" cy="320040"/>
          </a:xfrm>
          <a:prstGeom prst="rect">
            <a:avLst/>
          </a:prstGeom>
          <a:noFill/>
          <a:ln/>
        </p:spPr>
        <p:txBody>
          <a:bodyPr wrap="square" rtlCol="0" anchor="ctr"/>
          <a:lstStyle/>
          <a:p>
            <a:pPr indent="0" marL="0">
              <a:buNone/>
            </a:pPr>
            <a:r>
              <a:rPr lang="en-US" sz="1100" b="1" spc="100" kern="0" dirty="0">
                <a:solidFill>
                  <a:srgbClr val="8A94B8"/>
                </a:solidFill>
                <a:latin typeface="Calibri" pitchFamily="34" charset="0"/>
                <a:ea typeface="Calibri" pitchFamily="34" charset="-122"/>
                <a:cs typeface="Calibri" pitchFamily="34" charset="-120"/>
              </a:rPr>
              <a:t>CET1 RATIO</a:t>
            </a:r>
            <a:endParaRPr lang="en-US" sz="1100" dirty="0"/>
          </a:p>
        </p:txBody>
      </p:sp>
      <p:sp>
        <p:nvSpPr>
          <p:cNvPr id="15" name="Text 13"/>
          <p:cNvSpPr/>
          <p:nvPr/>
        </p:nvSpPr>
        <p:spPr>
          <a:xfrm>
            <a:off x="6382512" y="3246120"/>
            <a:ext cx="2276856"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15.3%</a:t>
            </a:r>
            <a:endParaRPr lang="en-US" sz="3000" dirty="0"/>
          </a:p>
        </p:txBody>
      </p:sp>
      <p:sp>
        <p:nvSpPr>
          <p:cNvPr id="16" name="Text 14"/>
          <p:cNvSpPr/>
          <p:nvPr/>
        </p:nvSpPr>
        <p:spPr>
          <a:xfrm>
            <a:off x="6382512" y="4114800"/>
            <a:ext cx="2276856" cy="365760"/>
          </a:xfrm>
          <a:prstGeom prst="rect">
            <a:avLst/>
          </a:prstGeom>
          <a:noFill/>
          <a:ln/>
        </p:spPr>
        <p:txBody>
          <a:bodyPr wrap="square" rtlCol="0" anchor="ctr"/>
          <a:lstStyle/>
          <a:p>
            <a:pPr indent="0" marL="0">
              <a:buNone/>
            </a:pPr>
            <a:r>
              <a:rPr lang="en-US" sz="1200" b="1" dirty="0">
                <a:solidFill>
                  <a:srgbClr val="3E8E5A"/>
                </a:solidFill>
                <a:latin typeface="Calibri" pitchFamily="34" charset="0"/>
                <a:ea typeface="Calibri" pitchFamily="34" charset="-122"/>
                <a:cs typeface="Calibri" pitchFamily="34" charset="-120"/>
              </a:rPr>
              <a:t>+0.2pt QoQ</a:t>
            </a:r>
            <a:endParaRPr lang="en-US" sz="1200" dirty="0"/>
          </a:p>
        </p:txBody>
      </p:sp>
      <p:sp>
        <p:nvSpPr>
          <p:cNvPr id="17" name="Shape 15"/>
          <p:cNvSpPr/>
          <p:nvPr/>
        </p:nvSpPr>
        <p:spPr>
          <a:xfrm>
            <a:off x="9052560" y="2743200"/>
            <a:ext cx="2606040" cy="1874520"/>
          </a:xfrm>
          <a:prstGeom prst="roundRect">
            <a:avLst>
              <a:gd name="adj" fmla="val 3902"/>
            </a:avLst>
          </a:prstGeom>
          <a:solidFill>
            <a:srgbClr val="F4F6FC"/>
          </a:solidFill>
          <a:ln/>
        </p:spPr>
      </p:sp>
      <p:sp>
        <p:nvSpPr>
          <p:cNvPr id="18" name="Text 16"/>
          <p:cNvSpPr/>
          <p:nvPr/>
        </p:nvSpPr>
        <p:spPr>
          <a:xfrm>
            <a:off x="9217152" y="2907792"/>
            <a:ext cx="2276856" cy="320040"/>
          </a:xfrm>
          <a:prstGeom prst="rect">
            <a:avLst/>
          </a:prstGeom>
          <a:noFill/>
          <a:ln/>
        </p:spPr>
        <p:txBody>
          <a:bodyPr wrap="square" rtlCol="0" anchor="ctr"/>
          <a:lstStyle/>
          <a:p>
            <a:pPr indent="0" marL="0">
              <a:buNone/>
            </a:pPr>
            <a:r>
              <a:rPr lang="en-US" sz="1100" b="1" spc="100" kern="0" dirty="0">
                <a:solidFill>
                  <a:srgbClr val="8A94B8"/>
                </a:solidFill>
                <a:latin typeface="Calibri" pitchFamily="34" charset="0"/>
                <a:ea typeface="Calibri" pitchFamily="34" charset="-122"/>
                <a:cs typeface="Calibri" pitchFamily="34" charset="-120"/>
              </a:rPr>
              <a:t>LCR</a:t>
            </a:r>
            <a:endParaRPr lang="en-US" sz="1100" dirty="0"/>
          </a:p>
        </p:txBody>
      </p:sp>
      <p:sp>
        <p:nvSpPr>
          <p:cNvPr id="19" name="Text 17"/>
          <p:cNvSpPr/>
          <p:nvPr/>
        </p:nvSpPr>
        <p:spPr>
          <a:xfrm>
            <a:off x="9217152" y="3246120"/>
            <a:ext cx="2276856"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144%</a:t>
            </a:r>
            <a:endParaRPr lang="en-US" sz="3000" dirty="0"/>
          </a:p>
        </p:txBody>
      </p:sp>
      <p:sp>
        <p:nvSpPr>
          <p:cNvPr id="20" name="Text 18"/>
          <p:cNvSpPr/>
          <p:nvPr/>
        </p:nvSpPr>
        <p:spPr>
          <a:xfrm>
            <a:off x="9217152" y="4114800"/>
            <a:ext cx="2276856" cy="365760"/>
          </a:xfrm>
          <a:prstGeom prst="rect">
            <a:avLst/>
          </a:prstGeom>
          <a:noFill/>
          <a:ln/>
        </p:spPr>
        <p:txBody>
          <a:bodyPr wrap="square" rtlCol="0" anchor="ctr"/>
          <a:lstStyle/>
          <a:p>
            <a:pPr indent="0" marL="0">
              <a:buNone/>
            </a:pPr>
            <a:r>
              <a:rPr lang="en-US" sz="1200" b="1" dirty="0">
                <a:solidFill>
                  <a:srgbClr val="E08E45"/>
                </a:solidFill>
                <a:latin typeface="Calibri" pitchFamily="34" charset="0"/>
                <a:ea typeface="Calibri" pitchFamily="34" charset="-122"/>
                <a:cs typeface="Calibri" pitchFamily="34" charset="-120"/>
              </a:rPr>
              <a:t>-3pt QoQ</a:t>
            </a:r>
            <a:endParaRPr lang="en-US" sz="1200" dirty="0"/>
          </a:p>
        </p:txBody>
      </p:sp>
      <p:sp>
        <p:nvSpPr>
          <p:cNvPr id="21" name="Text 19"/>
          <p:cNvSpPr/>
          <p:nvPr/>
        </p:nvSpPr>
        <p:spPr>
          <a:xfrm>
            <a:off x="548640" y="4846320"/>
            <a:ext cx="10972800" cy="365760"/>
          </a:xfrm>
          <a:prstGeom prst="rect">
            <a:avLst/>
          </a:prstGeom>
          <a:noFill/>
          <a:ln/>
        </p:spPr>
        <p:txBody>
          <a:bodyPr wrap="square" rtlCol="0" anchor="ctr"/>
          <a:lstStyle/>
          <a:p>
            <a:pPr indent="0" marL="0">
              <a:buNone/>
            </a:pPr>
            <a:r>
              <a:rPr lang="en-US" sz="1050" i="1" dirty="0">
                <a:solidFill>
                  <a:srgbClr val="8A94B8"/>
                </a:solidFill>
                <a:latin typeface="Calibri" pitchFamily="34" charset="0"/>
                <a:ea typeface="Calibri" pitchFamily="34" charset="-122"/>
                <a:cs typeface="Calibri" pitchFamily="34" charset="-120"/>
              </a:rPr>
              <a:t>Overall trend tag reflects sequential recovery against continued year-on-year softness across income lines.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Key Highlights</a:t>
            </a:r>
            <a:endParaRPr lang="en-US" sz="3000" dirty="0"/>
          </a:p>
        </p:txBody>
      </p:sp>
      <p:sp>
        <p:nvSpPr>
          <p:cNvPr id="3" name="Shape 1"/>
          <p:cNvSpPr/>
          <p:nvPr/>
        </p:nvSpPr>
        <p:spPr>
          <a:xfrm>
            <a:off x="548640" y="1143000"/>
            <a:ext cx="5349240" cy="1600200"/>
          </a:xfrm>
          <a:prstGeom prst="roundRect">
            <a:avLst>
              <a:gd name="adj" fmla="val 4000"/>
            </a:avLst>
          </a:prstGeom>
          <a:solidFill>
            <a:srgbClr val="F4F6FC"/>
          </a:solidFill>
          <a:ln/>
        </p:spPr>
      </p:sp>
      <p:sp>
        <p:nvSpPr>
          <p:cNvPr id="4" name="Shape 2"/>
          <p:cNvSpPr/>
          <p:nvPr/>
        </p:nvSpPr>
        <p:spPr>
          <a:xfrm>
            <a:off x="749808" y="1344168"/>
            <a:ext cx="146304" cy="146304"/>
          </a:xfrm>
          <a:prstGeom prst="ellipse">
            <a:avLst/>
          </a:prstGeom>
          <a:solidFill>
            <a:srgbClr val="1E2761"/>
          </a:solidFill>
          <a:ln/>
        </p:spPr>
      </p:sp>
      <p:sp>
        <p:nvSpPr>
          <p:cNvPr id="5" name="Text 3"/>
          <p:cNvSpPr/>
          <p:nvPr/>
        </p:nvSpPr>
        <p:spPr>
          <a:xfrm>
            <a:off x="1005840" y="1271016"/>
            <a:ext cx="4709160" cy="3200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Total Assets</a:t>
            </a:r>
            <a:endParaRPr lang="en-US" sz="1400" dirty="0"/>
          </a:p>
        </p:txBody>
      </p:sp>
      <p:sp>
        <p:nvSpPr>
          <p:cNvPr id="6" name="Text 4"/>
          <p:cNvSpPr/>
          <p:nvPr/>
        </p:nvSpPr>
        <p:spPr>
          <a:xfrm>
            <a:off x="749808" y="1691640"/>
            <a:ext cx="4946904" cy="914400"/>
          </a:xfrm>
          <a:prstGeom prst="rect">
            <a:avLst/>
          </a:prstGeom>
          <a:noFill/>
          <a:ln/>
        </p:spPr>
        <p:txBody>
          <a:bodyPr wrap="square" rtlCol="0" anchor="t"/>
          <a:lstStyle/>
          <a:p>
            <a:pPr indent="0" marL="0">
              <a:buNone/>
            </a:pPr>
            <a:r>
              <a:rPr lang="en-US" sz="1150" dirty="0">
                <a:solidFill>
                  <a:srgbClr val="1C1C2E"/>
                </a:solidFill>
                <a:latin typeface="Calibri" pitchFamily="34" charset="0"/>
                <a:ea typeface="Calibri" pitchFamily="34" charset="-122"/>
                <a:cs typeface="Calibri" pitchFamily="34" charset="-120"/>
              </a:rPr>
              <a:t>Up 7% YoY to S$574,233m, indicating continued balance sheet expansion.</a:t>
            </a:r>
            <a:endParaRPr lang="en-US" sz="1150" dirty="0"/>
          </a:p>
        </p:txBody>
      </p:sp>
      <p:sp>
        <p:nvSpPr>
          <p:cNvPr id="7" name="Shape 5"/>
          <p:cNvSpPr/>
          <p:nvPr/>
        </p:nvSpPr>
        <p:spPr>
          <a:xfrm>
            <a:off x="6172200" y="1143000"/>
            <a:ext cx="5349240" cy="1600200"/>
          </a:xfrm>
          <a:prstGeom prst="roundRect">
            <a:avLst>
              <a:gd name="adj" fmla="val 4000"/>
            </a:avLst>
          </a:prstGeom>
          <a:solidFill>
            <a:srgbClr val="F4F6FC"/>
          </a:solidFill>
          <a:ln/>
        </p:spPr>
      </p:sp>
      <p:sp>
        <p:nvSpPr>
          <p:cNvPr id="8" name="Shape 6"/>
          <p:cNvSpPr/>
          <p:nvPr/>
        </p:nvSpPr>
        <p:spPr>
          <a:xfrm>
            <a:off x="6373368" y="1344168"/>
            <a:ext cx="146304" cy="146304"/>
          </a:xfrm>
          <a:prstGeom prst="ellipse">
            <a:avLst/>
          </a:prstGeom>
          <a:solidFill>
            <a:srgbClr val="1E2761"/>
          </a:solidFill>
          <a:ln/>
        </p:spPr>
      </p:sp>
      <p:sp>
        <p:nvSpPr>
          <p:cNvPr id="9" name="Text 7"/>
          <p:cNvSpPr/>
          <p:nvPr/>
        </p:nvSpPr>
        <p:spPr>
          <a:xfrm>
            <a:off x="6629400" y="1271016"/>
            <a:ext cx="4709160" cy="3200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Customer Deposits</a:t>
            </a:r>
            <a:endParaRPr lang="en-US" sz="1400" dirty="0"/>
          </a:p>
        </p:txBody>
      </p:sp>
      <p:sp>
        <p:nvSpPr>
          <p:cNvPr id="10" name="Text 8"/>
          <p:cNvSpPr/>
          <p:nvPr/>
        </p:nvSpPr>
        <p:spPr>
          <a:xfrm>
            <a:off x="6373368" y="1691640"/>
            <a:ext cx="4946904" cy="914400"/>
          </a:xfrm>
          <a:prstGeom prst="rect">
            <a:avLst/>
          </a:prstGeom>
          <a:noFill/>
          <a:ln/>
        </p:spPr>
        <p:txBody>
          <a:bodyPr wrap="square" rtlCol="0" anchor="t"/>
          <a:lstStyle/>
          <a:p>
            <a:pPr indent="0" marL="0">
              <a:buNone/>
            </a:pPr>
            <a:r>
              <a:rPr lang="en-US" sz="1150" dirty="0">
                <a:solidFill>
                  <a:srgbClr val="1C1C2E"/>
                </a:solidFill>
                <a:latin typeface="Calibri" pitchFamily="34" charset="0"/>
                <a:ea typeface="Calibri" pitchFamily="34" charset="-122"/>
                <a:cs typeface="Calibri" pitchFamily="34" charset="-120"/>
              </a:rPr>
              <a:t>Up 6% YoY to S$426,731m.</a:t>
            </a:r>
            <a:endParaRPr lang="en-US" sz="1150" dirty="0"/>
          </a:p>
        </p:txBody>
      </p:sp>
      <p:sp>
        <p:nvSpPr>
          <p:cNvPr id="11" name="Shape 9"/>
          <p:cNvSpPr/>
          <p:nvPr/>
        </p:nvSpPr>
        <p:spPr>
          <a:xfrm>
            <a:off x="548640" y="2971800"/>
            <a:ext cx="5349240" cy="1600200"/>
          </a:xfrm>
          <a:prstGeom prst="roundRect">
            <a:avLst>
              <a:gd name="adj" fmla="val 4000"/>
            </a:avLst>
          </a:prstGeom>
          <a:solidFill>
            <a:srgbClr val="F4F6FC"/>
          </a:solidFill>
          <a:ln/>
        </p:spPr>
      </p:sp>
      <p:sp>
        <p:nvSpPr>
          <p:cNvPr id="12" name="Shape 10"/>
          <p:cNvSpPr/>
          <p:nvPr/>
        </p:nvSpPr>
        <p:spPr>
          <a:xfrm>
            <a:off x="749808" y="3172968"/>
            <a:ext cx="146304" cy="146304"/>
          </a:xfrm>
          <a:prstGeom prst="ellipse">
            <a:avLst/>
          </a:prstGeom>
          <a:solidFill>
            <a:srgbClr val="1E2761"/>
          </a:solidFill>
          <a:ln/>
        </p:spPr>
      </p:sp>
      <p:sp>
        <p:nvSpPr>
          <p:cNvPr id="13" name="Text 11"/>
          <p:cNvSpPr/>
          <p:nvPr/>
        </p:nvSpPr>
        <p:spPr>
          <a:xfrm>
            <a:off x="1005840" y="3099816"/>
            <a:ext cx="4709160" cy="3200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Operating Profit</a:t>
            </a:r>
            <a:endParaRPr lang="en-US" sz="1400" dirty="0"/>
          </a:p>
        </p:txBody>
      </p:sp>
      <p:sp>
        <p:nvSpPr>
          <p:cNvPr id="14" name="Text 12"/>
          <p:cNvSpPr/>
          <p:nvPr/>
        </p:nvSpPr>
        <p:spPr>
          <a:xfrm>
            <a:off x="749808" y="3520440"/>
            <a:ext cx="4946904" cy="914400"/>
          </a:xfrm>
          <a:prstGeom prst="rect">
            <a:avLst/>
          </a:prstGeom>
          <a:noFill/>
          <a:ln/>
        </p:spPr>
        <p:txBody>
          <a:bodyPr wrap="square" rtlCol="0" anchor="t"/>
          <a:lstStyle/>
          <a:p>
            <a:pPr indent="0" marL="0">
              <a:buNone/>
            </a:pPr>
            <a:r>
              <a:rPr lang="en-US" sz="1150" dirty="0">
                <a:solidFill>
                  <a:srgbClr val="1C1C2E"/>
                </a:solidFill>
                <a:latin typeface="Calibri" pitchFamily="34" charset="0"/>
                <a:ea typeface="Calibri" pitchFamily="34" charset="-122"/>
                <a:cs typeface="Calibri" pitchFamily="34" charset="-120"/>
              </a:rPr>
              <a:t>+8% QoQ to S$1,899m, though still down 9% YoY.</a:t>
            </a:r>
            <a:endParaRPr lang="en-US" sz="1150" dirty="0"/>
          </a:p>
        </p:txBody>
      </p:sp>
      <p:sp>
        <p:nvSpPr>
          <p:cNvPr id="15" name="Shape 13"/>
          <p:cNvSpPr/>
          <p:nvPr/>
        </p:nvSpPr>
        <p:spPr>
          <a:xfrm>
            <a:off x="6172200" y="2971800"/>
            <a:ext cx="5349240" cy="1600200"/>
          </a:xfrm>
          <a:prstGeom prst="roundRect">
            <a:avLst>
              <a:gd name="adj" fmla="val 4000"/>
            </a:avLst>
          </a:prstGeom>
          <a:solidFill>
            <a:srgbClr val="F4F6FC"/>
          </a:solidFill>
          <a:ln/>
        </p:spPr>
      </p:sp>
      <p:sp>
        <p:nvSpPr>
          <p:cNvPr id="16" name="Shape 14"/>
          <p:cNvSpPr/>
          <p:nvPr/>
        </p:nvSpPr>
        <p:spPr>
          <a:xfrm>
            <a:off x="6373368" y="3172968"/>
            <a:ext cx="146304" cy="146304"/>
          </a:xfrm>
          <a:prstGeom prst="ellipse">
            <a:avLst/>
          </a:prstGeom>
          <a:solidFill>
            <a:srgbClr val="1E2761"/>
          </a:solidFill>
          <a:ln/>
        </p:spPr>
      </p:sp>
      <p:sp>
        <p:nvSpPr>
          <p:cNvPr id="17" name="Text 15"/>
          <p:cNvSpPr/>
          <p:nvPr/>
        </p:nvSpPr>
        <p:spPr>
          <a:xfrm>
            <a:off x="6629400" y="3099816"/>
            <a:ext cx="4709160" cy="3200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CET1 Ratio</a:t>
            </a:r>
            <a:endParaRPr lang="en-US" sz="1400" dirty="0"/>
          </a:p>
        </p:txBody>
      </p:sp>
      <p:sp>
        <p:nvSpPr>
          <p:cNvPr id="18" name="Text 16"/>
          <p:cNvSpPr/>
          <p:nvPr/>
        </p:nvSpPr>
        <p:spPr>
          <a:xfrm>
            <a:off x="6373368" y="3520440"/>
            <a:ext cx="4946904" cy="914400"/>
          </a:xfrm>
          <a:prstGeom prst="rect">
            <a:avLst/>
          </a:prstGeom>
          <a:noFill/>
          <a:ln/>
        </p:spPr>
        <p:txBody>
          <a:bodyPr wrap="square" rtlCol="0" anchor="t"/>
          <a:lstStyle/>
          <a:p>
            <a:pPr indent="0" marL="0">
              <a:buNone/>
            </a:pPr>
            <a:r>
              <a:rPr lang="en-US" sz="1150" dirty="0">
                <a:solidFill>
                  <a:srgbClr val="1C1C2E"/>
                </a:solidFill>
                <a:latin typeface="Calibri" pitchFamily="34" charset="0"/>
                <a:ea typeface="Calibri" pitchFamily="34" charset="-122"/>
                <a:cs typeface="Calibri" pitchFamily="34" charset="-120"/>
              </a:rPr>
              <a:t>15.3%, up 0.2pt QoQ, strengthening the capital buffer.</a:t>
            </a:r>
            <a:endParaRPr lang="en-US" sz="1150" dirty="0"/>
          </a:p>
        </p:txBody>
      </p:sp>
      <p:sp>
        <p:nvSpPr>
          <p:cNvPr id="19" name="Shape 17"/>
          <p:cNvSpPr/>
          <p:nvPr/>
        </p:nvSpPr>
        <p:spPr>
          <a:xfrm>
            <a:off x="548640" y="4800600"/>
            <a:ext cx="5349240" cy="1600200"/>
          </a:xfrm>
          <a:prstGeom prst="roundRect">
            <a:avLst>
              <a:gd name="adj" fmla="val 4000"/>
            </a:avLst>
          </a:prstGeom>
          <a:solidFill>
            <a:srgbClr val="F4F6FC"/>
          </a:solidFill>
          <a:ln/>
        </p:spPr>
      </p:sp>
      <p:sp>
        <p:nvSpPr>
          <p:cNvPr id="20" name="Shape 18"/>
          <p:cNvSpPr/>
          <p:nvPr/>
        </p:nvSpPr>
        <p:spPr>
          <a:xfrm>
            <a:off x="749808" y="5001768"/>
            <a:ext cx="146304" cy="146304"/>
          </a:xfrm>
          <a:prstGeom prst="ellipse">
            <a:avLst/>
          </a:prstGeom>
          <a:solidFill>
            <a:srgbClr val="1E2761"/>
          </a:solidFill>
          <a:ln/>
        </p:spPr>
      </p:sp>
      <p:sp>
        <p:nvSpPr>
          <p:cNvPr id="21" name="Text 19"/>
          <p:cNvSpPr/>
          <p:nvPr/>
        </p:nvSpPr>
        <p:spPr>
          <a:xfrm>
            <a:off x="1005840" y="4928616"/>
            <a:ext cx="4709160" cy="3200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NPL Ratio</a:t>
            </a:r>
            <a:endParaRPr lang="en-US" sz="1400" dirty="0"/>
          </a:p>
        </p:txBody>
      </p:sp>
      <p:sp>
        <p:nvSpPr>
          <p:cNvPr id="22" name="Text 20"/>
          <p:cNvSpPr/>
          <p:nvPr/>
        </p:nvSpPr>
        <p:spPr>
          <a:xfrm>
            <a:off x="749808" y="5349240"/>
            <a:ext cx="4946904" cy="914400"/>
          </a:xfrm>
          <a:prstGeom prst="rect">
            <a:avLst/>
          </a:prstGeom>
          <a:noFill/>
          <a:ln/>
        </p:spPr>
        <p:txBody>
          <a:bodyPr wrap="square" rtlCol="0" anchor="t"/>
          <a:lstStyle/>
          <a:p>
            <a:pPr indent="0" marL="0">
              <a:buNone/>
            </a:pPr>
            <a:r>
              <a:rPr lang="en-US" sz="1150" dirty="0">
                <a:solidFill>
                  <a:srgbClr val="1C1C2E"/>
                </a:solidFill>
                <a:latin typeface="Calibri" pitchFamily="34" charset="0"/>
                <a:ea typeface="Calibri" pitchFamily="34" charset="-122"/>
                <a:cs typeface="Calibri" pitchFamily="34" charset="-120"/>
              </a:rPr>
              <a:t>Steady at 1.5% QoQ; NPA Coverage rose to 100%.</a:t>
            </a:r>
            <a:endParaRPr lang="en-US" sz="1150" dirty="0"/>
          </a:p>
        </p:txBody>
      </p:sp>
      <p:sp>
        <p:nvSpPr>
          <p:cNvPr id="23" name="Shape 21"/>
          <p:cNvSpPr/>
          <p:nvPr/>
        </p:nvSpPr>
        <p:spPr>
          <a:xfrm>
            <a:off x="6172200" y="4800600"/>
            <a:ext cx="5349240" cy="1600200"/>
          </a:xfrm>
          <a:prstGeom prst="roundRect">
            <a:avLst>
              <a:gd name="adj" fmla="val 4000"/>
            </a:avLst>
          </a:prstGeom>
          <a:solidFill>
            <a:srgbClr val="F4F6FC"/>
          </a:solidFill>
          <a:ln/>
        </p:spPr>
      </p:sp>
      <p:sp>
        <p:nvSpPr>
          <p:cNvPr id="24" name="Shape 22"/>
          <p:cNvSpPr/>
          <p:nvPr/>
        </p:nvSpPr>
        <p:spPr>
          <a:xfrm>
            <a:off x="6373368" y="5001768"/>
            <a:ext cx="146304" cy="146304"/>
          </a:xfrm>
          <a:prstGeom prst="ellipse">
            <a:avLst/>
          </a:prstGeom>
          <a:solidFill>
            <a:srgbClr val="1E2761"/>
          </a:solidFill>
          <a:ln/>
        </p:spPr>
      </p:sp>
      <p:sp>
        <p:nvSpPr>
          <p:cNvPr id="25" name="Text 23"/>
          <p:cNvSpPr/>
          <p:nvPr/>
        </p:nvSpPr>
        <p:spPr>
          <a:xfrm>
            <a:off x="6629400" y="4928616"/>
            <a:ext cx="4709160" cy="3200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Assets Under Management</a:t>
            </a:r>
            <a:endParaRPr lang="en-US" sz="1400" dirty="0"/>
          </a:p>
        </p:txBody>
      </p:sp>
      <p:sp>
        <p:nvSpPr>
          <p:cNvPr id="26" name="Text 24"/>
          <p:cNvSpPr/>
          <p:nvPr/>
        </p:nvSpPr>
        <p:spPr>
          <a:xfrm>
            <a:off x="6373368" y="5349240"/>
            <a:ext cx="4946904" cy="914400"/>
          </a:xfrm>
          <a:prstGeom prst="rect">
            <a:avLst/>
          </a:prstGeom>
          <a:noFill/>
          <a:ln/>
        </p:spPr>
        <p:txBody>
          <a:bodyPr wrap="square" rtlCol="0" anchor="t"/>
          <a:lstStyle/>
          <a:p>
            <a:pPr indent="0" marL="0">
              <a:buNone/>
            </a:pPr>
            <a:r>
              <a:rPr lang="en-US" sz="1150" dirty="0">
                <a:solidFill>
                  <a:srgbClr val="1C1C2E"/>
                </a:solidFill>
                <a:latin typeface="Calibri" pitchFamily="34" charset="0"/>
                <a:ea typeface="Calibri" pitchFamily="34" charset="-122"/>
                <a:cs typeface="Calibri" pitchFamily="34" charset="-120"/>
              </a:rPr>
              <a:t>S$198bn, up 5% YoY on wealth management momentum.</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Risk Flags — Require Review</a:t>
            </a:r>
            <a:endParaRPr lang="en-US" sz="3000" dirty="0"/>
          </a:p>
        </p:txBody>
      </p:sp>
      <p:sp>
        <p:nvSpPr>
          <p:cNvPr id="3" name="Shape 1"/>
          <p:cNvSpPr/>
          <p:nvPr/>
        </p:nvSpPr>
        <p:spPr>
          <a:xfrm>
            <a:off x="548640" y="1188720"/>
            <a:ext cx="10972800" cy="713232"/>
          </a:xfrm>
          <a:prstGeom prst="roundRect">
            <a:avLst>
              <a:gd name="adj" fmla="val 7692"/>
            </a:avLst>
          </a:prstGeom>
          <a:solidFill>
            <a:srgbClr val="F4F6FC"/>
          </a:solidFill>
          <a:ln/>
        </p:spPr>
      </p:sp>
      <p:sp>
        <p:nvSpPr>
          <p:cNvPr id="4" name="Shape 2"/>
          <p:cNvSpPr/>
          <p:nvPr/>
        </p:nvSpPr>
        <p:spPr>
          <a:xfrm>
            <a:off x="731520" y="1344168"/>
            <a:ext cx="1051560" cy="320040"/>
          </a:xfrm>
          <a:prstGeom prst="roundRect">
            <a:avLst>
              <a:gd name="adj" fmla="val 48571"/>
            </a:avLst>
          </a:prstGeom>
          <a:solidFill>
            <a:srgbClr val="E08E45"/>
          </a:solidFill>
          <a:ln/>
        </p:spPr>
      </p:sp>
      <p:sp>
        <p:nvSpPr>
          <p:cNvPr id="5" name="Text 3"/>
          <p:cNvSpPr/>
          <p:nvPr/>
        </p:nvSpPr>
        <p:spPr>
          <a:xfrm>
            <a:off x="731520" y="1344168"/>
            <a:ext cx="105156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6" name="Text 4"/>
          <p:cNvSpPr/>
          <p:nvPr/>
        </p:nvSpPr>
        <p:spPr>
          <a:xfrm>
            <a:off x="1965960" y="1243584"/>
            <a:ext cx="2743200" cy="5029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Total Income</a:t>
            </a:r>
            <a:endParaRPr lang="en-US" sz="1300" dirty="0"/>
          </a:p>
        </p:txBody>
      </p:sp>
      <p:sp>
        <p:nvSpPr>
          <p:cNvPr id="7" name="Text 5"/>
          <p:cNvSpPr/>
          <p:nvPr/>
        </p:nvSpPr>
        <p:spPr>
          <a:xfrm>
            <a:off x="4846320" y="1243584"/>
            <a:ext cx="6492240" cy="502920"/>
          </a:xfrm>
          <a:prstGeom prst="rect">
            <a:avLst/>
          </a:prstGeom>
          <a:noFill/>
          <a:ln/>
        </p:spPr>
        <p:txBody>
          <a:bodyPr wrap="square" rtlCol="0" anchor="ctr"/>
          <a:lstStyle/>
          <a:p>
            <a:pPr indent="0" marL="0">
              <a:buNone/>
            </a:pPr>
            <a:r>
              <a:rPr lang="en-US" sz="1150" dirty="0">
                <a:solidFill>
                  <a:srgbClr val="1C1C2E"/>
                </a:solidFill>
                <a:latin typeface="Calibri" pitchFamily="34" charset="0"/>
                <a:ea typeface="Calibri" pitchFamily="34" charset="-122"/>
                <a:cs typeface="Calibri" pitchFamily="34" charset="-120"/>
              </a:rPr>
              <a:t>-6% YoY to S$3,422m, exceeding the 5% decline threshold.</a:t>
            </a:r>
            <a:endParaRPr lang="en-US" sz="1150" dirty="0"/>
          </a:p>
        </p:txBody>
      </p:sp>
      <p:sp>
        <p:nvSpPr>
          <p:cNvPr id="8" name="Shape 6"/>
          <p:cNvSpPr/>
          <p:nvPr/>
        </p:nvSpPr>
        <p:spPr>
          <a:xfrm>
            <a:off x="548640" y="2029968"/>
            <a:ext cx="10972800" cy="713232"/>
          </a:xfrm>
          <a:prstGeom prst="roundRect">
            <a:avLst>
              <a:gd name="adj" fmla="val 7692"/>
            </a:avLst>
          </a:prstGeom>
          <a:solidFill>
            <a:srgbClr val="F4F6FC"/>
          </a:solidFill>
          <a:ln/>
        </p:spPr>
      </p:sp>
      <p:sp>
        <p:nvSpPr>
          <p:cNvPr id="9" name="Shape 7"/>
          <p:cNvSpPr/>
          <p:nvPr/>
        </p:nvSpPr>
        <p:spPr>
          <a:xfrm>
            <a:off x="731520" y="2185416"/>
            <a:ext cx="1051560" cy="320040"/>
          </a:xfrm>
          <a:prstGeom prst="roundRect">
            <a:avLst>
              <a:gd name="adj" fmla="val 48571"/>
            </a:avLst>
          </a:prstGeom>
          <a:solidFill>
            <a:srgbClr val="E08E45"/>
          </a:solidFill>
          <a:ln/>
        </p:spPr>
      </p:sp>
      <p:sp>
        <p:nvSpPr>
          <p:cNvPr id="10" name="Text 8"/>
          <p:cNvSpPr/>
          <p:nvPr/>
        </p:nvSpPr>
        <p:spPr>
          <a:xfrm>
            <a:off x="731520" y="2185416"/>
            <a:ext cx="105156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11" name="Text 9"/>
          <p:cNvSpPr/>
          <p:nvPr/>
        </p:nvSpPr>
        <p:spPr>
          <a:xfrm>
            <a:off x="1965960" y="2084832"/>
            <a:ext cx="2743200" cy="5029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Net Fee Income</a:t>
            </a:r>
            <a:endParaRPr lang="en-US" sz="1300" dirty="0"/>
          </a:p>
        </p:txBody>
      </p:sp>
      <p:sp>
        <p:nvSpPr>
          <p:cNvPr id="12" name="Text 10"/>
          <p:cNvSpPr/>
          <p:nvPr/>
        </p:nvSpPr>
        <p:spPr>
          <a:xfrm>
            <a:off x="4846320" y="2084832"/>
            <a:ext cx="6492240" cy="502920"/>
          </a:xfrm>
          <a:prstGeom prst="rect">
            <a:avLst/>
          </a:prstGeom>
          <a:noFill/>
          <a:ln/>
        </p:spPr>
        <p:txBody>
          <a:bodyPr wrap="square" rtlCol="0" anchor="ctr"/>
          <a:lstStyle/>
          <a:p>
            <a:pPr indent="0" marL="0">
              <a:buNone/>
            </a:pPr>
            <a:r>
              <a:rPr lang="en-US" sz="1150" dirty="0">
                <a:solidFill>
                  <a:srgbClr val="1C1C2E"/>
                </a:solidFill>
                <a:latin typeface="Calibri" pitchFamily="34" charset="0"/>
                <a:ea typeface="Calibri" pitchFamily="34" charset="-122"/>
                <a:cs typeface="Calibri" pitchFamily="34" charset="-120"/>
              </a:rPr>
              <a:t>-8% YoY to S$637m.</a:t>
            </a:r>
            <a:endParaRPr lang="en-US" sz="1150" dirty="0"/>
          </a:p>
        </p:txBody>
      </p:sp>
      <p:sp>
        <p:nvSpPr>
          <p:cNvPr id="13" name="Shape 11"/>
          <p:cNvSpPr/>
          <p:nvPr/>
        </p:nvSpPr>
        <p:spPr>
          <a:xfrm>
            <a:off x="548640" y="2871216"/>
            <a:ext cx="10972800" cy="713232"/>
          </a:xfrm>
          <a:prstGeom prst="roundRect">
            <a:avLst>
              <a:gd name="adj" fmla="val 7692"/>
            </a:avLst>
          </a:prstGeom>
          <a:solidFill>
            <a:srgbClr val="F4F6FC"/>
          </a:solidFill>
          <a:ln/>
        </p:spPr>
      </p:sp>
      <p:sp>
        <p:nvSpPr>
          <p:cNvPr id="14" name="Shape 12"/>
          <p:cNvSpPr/>
          <p:nvPr/>
        </p:nvSpPr>
        <p:spPr>
          <a:xfrm>
            <a:off x="731520" y="3026664"/>
            <a:ext cx="1051560" cy="320040"/>
          </a:xfrm>
          <a:prstGeom prst="roundRect">
            <a:avLst>
              <a:gd name="adj" fmla="val 48571"/>
            </a:avLst>
          </a:prstGeom>
          <a:solidFill>
            <a:srgbClr val="E08E45"/>
          </a:solidFill>
          <a:ln/>
        </p:spPr>
      </p:sp>
      <p:sp>
        <p:nvSpPr>
          <p:cNvPr id="15" name="Text 13"/>
          <p:cNvSpPr/>
          <p:nvPr/>
        </p:nvSpPr>
        <p:spPr>
          <a:xfrm>
            <a:off x="731520" y="3026664"/>
            <a:ext cx="105156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16" name="Text 14"/>
          <p:cNvSpPr/>
          <p:nvPr/>
        </p:nvSpPr>
        <p:spPr>
          <a:xfrm>
            <a:off x="1965960" y="2926080"/>
            <a:ext cx="2743200" cy="5029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Net Interest Margin</a:t>
            </a:r>
            <a:endParaRPr lang="en-US" sz="1300" dirty="0"/>
          </a:p>
        </p:txBody>
      </p:sp>
      <p:sp>
        <p:nvSpPr>
          <p:cNvPr id="17" name="Text 15"/>
          <p:cNvSpPr/>
          <p:nvPr/>
        </p:nvSpPr>
        <p:spPr>
          <a:xfrm>
            <a:off x="4846320" y="2926080"/>
            <a:ext cx="6492240" cy="502920"/>
          </a:xfrm>
          <a:prstGeom prst="rect">
            <a:avLst/>
          </a:prstGeom>
          <a:noFill/>
          <a:ln/>
        </p:spPr>
        <p:txBody>
          <a:bodyPr wrap="square" rtlCol="0" anchor="ctr"/>
          <a:lstStyle/>
          <a:p>
            <a:pPr indent="0" marL="0">
              <a:buNone/>
            </a:pPr>
            <a:r>
              <a:rPr lang="en-US" sz="1150" dirty="0">
                <a:solidFill>
                  <a:srgbClr val="1C1C2E"/>
                </a:solidFill>
                <a:latin typeface="Calibri" pitchFamily="34" charset="0"/>
                <a:ea typeface="Calibri" pitchFamily="34" charset="-122"/>
                <a:cs typeface="Calibri" pitchFamily="34" charset="-120"/>
              </a:rPr>
              <a:t>Compressed 18bps YoY to 1.82%.</a:t>
            </a:r>
            <a:endParaRPr lang="en-US" sz="1150" dirty="0"/>
          </a:p>
        </p:txBody>
      </p:sp>
      <p:sp>
        <p:nvSpPr>
          <p:cNvPr id="18" name="Shape 16"/>
          <p:cNvSpPr/>
          <p:nvPr/>
        </p:nvSpPr>
        <p:spPr>
          <a:xfrm>
            <a:off x="548640" y="3712464"/>
            <a:ext cx="10972800" cy="713232"/>
          </a:xfrm>
          <a:prstGeom prst="roundRect">
            <a:avLst>
              <a:gd name="adj" fmla="val 7692"/>
            </a:avLst>
          </a:prstGeom>
          <a:solidFill>
            <a:srgbClr val="F4F6FC"/>
          </a:solidFill>
          <a:ln/>
        </p:spPr>
      </p:sp>
      <p:sp>
        <p:nvSpPr>
          <p:cNvPr id="19" name="Shape 17"/>
          <p:cNvSpPr/>
          <p:nvPr/>
        </p:nvSpPr>
        <p:spPr>
          <a:xfrm>
            <a:off x="731520" y="3867912"/>
            <a:ext cx="1051560" cy="320040"/>
          </a:xfrm>
          <a:prstGeom prst="roundRect">
            <a:avLst>
              <a:gd name="adj" fmla="val 48571"/>
            </a:avLst>
          </a:prstGeom>
          <a:solidFill>
            <a:srgbClr val="E08E45"/>
          </a:solidFill>
          <a:ln/>
        </p:spPr>
      </p:sp>
      <p:sp>
        <p:nvSpPr>
          <p:cNvPr id="20" name="Text 18"/>
          <p:cNvSpPr/>
          <p:nvPr/>
        </p:nvSpPr>
        <p:spPr>
          <a:xfrm>
            <a:off x="731520" y="3867912"/>
            <a:ext cx="105156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21" name="Text 19"/>
          <p:cNvSpPr/>
          <p:nvPr/>
        </p:nvSpPr>
        <p:spPr>
          <a:xfrm>
            <a:off x="1965960" y="3767328"/>
            <a:ext cx="2743200" cy="5029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Cost-to-Income Ratio</a:t>
            </a:r>
            <a:endParaRPr lang="en-US" sz="1300" dirty="0"/>
          </a:p>
        </p:txBody>
      </p:sp>
      <p:sp>
        <p:nvSpPr>
          <p:cNvPr id="22" name="Text 20"/>
          <p:cNvSpPr/>
          <p:nvPr/>
        </p:nvSpPr>
        <p:spPr>
          <a:xfrm>
            <a:off x="4846320" y="3767328"/>
            <a:ext cx="6492240" cy="502920"/>
          </a:xfrm>
          <a:prstGeom prst="rect">
            <a:avLst/>
          </a:prstGeom>
          <a:noFill/>
          <a:ln/>
        </p:spPr>
        <p:txBody>
          <a:bodyPr wrap="square" rtlCol="0" anchor="ctr"/>
          <a:lstStyle/>
          <a:p>
            <a:pPr indent="0" marL="0">
              <a:buNone/>
            </a:pPr>
            <a:r>
              <a:rPr lang="en-US" sz="1150" dirty="0">
                <a:solidFill>
                  <a:srgbClr val="1C1C2E"/>
                </a:solidFill>
                <a:latin typeface="Calibri" pitchFamily="34" charset="0"/>
                <a:ea typeface="Calibri" pitchFamily="34" charset="-122"/>
                <a:cs typeface="Calibri" pitchFamily="34" charset="-120"/>
              </a:rPr>
              <a:t>Improved QoQ but worsened 1.9pt YoY to 44.5%.</a:t>
            </a:r>
            <a:endParaRPr lang="en-US" sz="1150" dirty="0"/>
          </a:p>
        </p:txBody>
      </p:sp>
      <p:sp>
        <p:nvSpPr>
          <p:cNvPr id="23" name="Shape 21"/>
          <p:cNvSpPr/>
          <p:nvPr/>
        </p:nvSpPr>
        <p:spPr>
          <a:xfrm>
            <a:off x="548640" y="4553712"/>
            <a:ext cx="10972800" cy="713232"/>
          </a:xfrm>
          <a:prstGeom prst="roundRect">
            <a:avLst>
              <a:gd name="adj" fmla="val 7692"/>
            </a:avLst>
          </a:prstGeom>
          <a:solidFill>
            <a:srgbClr val="F4F6FC"/>
          </a:solidFill>
          <a:ln/>
        </p:spPr>
      </p:sp>
      <p:sp>
        <p:nvSpPr>
          <p:cNvPr id="24" name="Shape 22"/>
          <p:cNvSpPr/>
          <p:nvPr/>
        </p:nvSpPr>
        <p:spPr>
          <a:xfrm>
            <a:off x="731520" y="4709160"/>
            <a:ext cx="1051560" cy="320040"/>
          </a:xfrm>
          <a:prstGeom prst="roundRect">
            <a:avLst>
              <a:gd name="adj" fmla="val 48571"/>
            </a:avLst>
          </a:prstGeom>
          <a:solidFill>
            <a:srgbClr val="3E8E5A"/>
          </a:solidFill>
          <a:ln/>
        </p:spPr>
      </p:sp>
      <p:sp>
        <p:nvSpPr>
          <p:cNvPr id="25" name="Text 23"/>
          <p:cNvSpPr/>
          <p:nvPr/>
        </p:nvSpPr>
        <p:spPr>
          <a:xfrm>
            <a:off x="731520" y="4709160"/>
            <a:ext cx="105156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LOW</a:t>
            </a:r>
            <a:endParaRPr lang="en-US" sz="1000" dirty="0"/>
          </a:p>
        </p:txBody>
      </p:sp>
      <p:sp>
        <p:nvSpPr>
          <p:cNvPr id="26" name="Text 24"/>
          <p:cNvSpPr/>
          <p:nvPr/>
        </p:nvSpPr>
        <p:spPr>
          <a:xfrm>
            <a:off x="1965960" y="4608576"/>
            <a:ext cx="2743200" cy="5029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Credit Cost</a:t>
            </a:r>
            <a:endParaRPr lang="en-US" sz="1300" dirty="0"/>
          </a:p>
        </p:txBody>
      </p:sp>
      <p:sp>
        <p:nvSpPr>
          <p:cNvPr id="27" name="Text 25"/>
          <p:cNvSpPr/>
          <p:nvPr/>
        </p:nvSpPr>
        <p:spPr>
          <a:xfrm>
            <a:off x="4846320" y="4608576"/>
            <a:ext cx="6492240" cy="502920"/>
          </a:xfrm>
          <a:prstGeom prst="rect">
            <a:avLst/>
          </a:prstGeom>
          <a:noFill/>
          <a:ln/>
        </p:spPr>
        <p:txBody>
          <a:bodyPr wrap="square" rtlCol="0" anchor="ctr"/>
          <a:lstStyle/>
          <a:p>
            <a:pPr indent="0" marL="0">
              <a:buNone/>
            </a:pPr>
            <a:r>
              <a:rPr lang="en-US" sz="1150" dirty="0">
                <a:solidFill>
                  <a:srgbClr val="1C1C2E"/>
                </a:solidFill>
                <a:latin typeface="Calibri" pitchFamily="34" charset="0"/>
                <a:ea typeface="Calibri" pitchFamily="34" charset="-122"/>
                <a:cs typeface="Calibri" pitchFamily="34" charset="-120"/>
              </a:rPr>
              <a:t>+7bps QoQ to 26bps, though improved YoY.</a:t>
            </a:r>
            <a:endParaRPr lang="en-US" sz="1150" dirty="0"/>
          </a:p>
        </p:txBody>
      </p:sp>
      <p:sp>
        <p:nvSpPr>
          <p:cNvPr id="28" name="Shape 26"/>
          <p:cNvSpPr/>
          <p:nvPr/>
        </p:nvSpPr>
        <p:spPr>
          <a:xfrm>
            <a:off x="548640" y="5394960"/>
            <a:ext cx="10972800" cy="713232"/>
          </a:xfrm>
          <a:prstGeom prst="roundRect">
            <a:avLst>
              <a:gd name="adj" fmla="val 7692"/>
            </a:avLst>
          </a:prstGeom>
          <a:solidFill>
            <a:srgbClr val="F4F6FC"/>
          </a:solidFill>
          <a:ln/>
        </p:spPr>
      </p:sp>
      <p:sp>
        <p:nvSpPr>
          <p:cNvPr id="29" name="Shape 27"/>
          <p:cNvSpPr/>
          <p:nvPr/>
        </p:nvSpPr>
        <p:spPr>
          <a:xfrm>
            <a:off x="731520" y="5550408"/>
            <a:ext cx="1051560" cy="320040"/>
          </a:xfrm>
          <a:prstGeom prst="roundRect">
            <a:avLst>
              <a:gd name="adj" fmla="val 48571"/>
            </a:avLst>
          </a:prstGeom>
          <a:solidFill>
            <a:srgbClr val="3E8E5A"/>
          </a:solidFill>
          <a:ln/>
        </p:spPr>
      </p:sp>
      <p:sp>
        <p:nvSpPr>
          <p:cNvPr id="30" name="Text 28"/>
          <p:cNvSpPr/>
          <p:nvPr/>
        </p:nvSpPr>
        <p:spPr>
          <a:xfrm>
            <a:off x="731520" y="5550408"/>
            <a:ext cx="105156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LOW</a:t>
            </a:r>
            <a:endParaRPr lang="en-US" sz="1000" dirty="0"/>
          </a:p>
        </p:txBody>
      </p:sp>
      <p:sp>
        <p:nvSpPr>
          <p:cNvPr id="31" name="Text 29"/>
          <p:cNvSpPr/>
          <p:nvPr/>
        </p:nvSpPr>
        <p:spPr>
          <a:xfrm>
            <a:off x="1965960" y="5449824"/>
            <a:ext cx="2743200" cy="5029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All-Currency LCR</a:t>
            </a:r>
            <a:endParaRPr lang="en-US" sz="1300" dirty="0"/>
          </a:p>
        </p:txBody>
      </p:sp>
      <p:sp>
        <p:nvSpPr>
          <p:cNvPr id="32" name="Text 30"/>
          <p:cNvSpPr/>
          <p:nvPr/>
        </p:nvSpPr>
        <p:spPr>
          <a:xfrm>
            <a:off x="4846320" y="5449824"/>
            <a:ext cx="6492240" cy="502920"/>
          </a:xfrm>
          <a:prstGeom prst="rect">
            <a:avLst/>
          </a:prstGeom>
          <a:noFill/>
          <a:ln/>
        </p:spPr>
        <p:txBody>
          <a:bodyPr wrap="square" rtlCol="0" anchor="ctr"/>
          <a:lstStyle/>
          <a:p>
            <a:pPr indent="0" marL="0">
              <a:buNone/>
            </a:pPr>
            <a:r>
              <a:rPr lang="en-US" sz="1150" dirty="0">
                <a:solidFill>
                  <a:srgbClr val="1C1C2E"/>
                </a:solidFill>
                <a:latin typeface="Calibri" pitchFamily="34" charset="0"/>
                <a:ea typeface="Calibri" pitchFamily="34" charset="-122"/>
                <a:cs typeface="Calibri" pitchFamily="34" charset="-120"/>
              </a:rPr>
              <a:t>-3pt QoQ to 144%, a QoQ/YoY divergence.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40080" y="457200"/>
            <a:ext cx="10881360" cy="54864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Recommendation &amp; Data Governance</a:t>
            </a:r>
            <a:endParaRPr lang="en-US" sz="2800" dirty="0"/>
          </a:p>
        </p:txBody>
      </p:sp>
      <p:sp>
        <p:nvSpPr>
          <p:cNvPr id="3" name="Shape 1"/>
          <p:cNvSpPr/>
          <p:nvPr/>
        </p:nvSpPr>
        <p:spPr>
          <a:xfrm>
            <a:off x="640080" y="1280160"/>
            <a:ext cx="10881360" cy="1371600"/>
          </a:xfrm>
          <a:prstGeom prst="roundRect">
            <a:avLst>
              <a:gd name="adj" fmla="val 5333"/>
            </a:avLst>
          </a:prstGeom>
          <a:solidFill>
            <a:srgbClr val="27306B"/>
          </a:solidFill>
          <a:ln/>
        </p:spPr>
      </p:sp>
      <p:sp>
        <p:nvSpPr>
          <p:cNvPr id="4" name="Text 2"/>
          <p:cNvSpPr/>
          <p:nvPr/>
        </p:nvSpPr>
        <p:spPr>
          <a:xfrm>
            <a:off x="914400" y="1444752"/>
            <a:ext cx="10332720" cy="274320"/>
          </a:xfrm>
          <a:prstGeom prst="rect">
            <a:avLst/>
          </a:prstGeom>
          <a:noFill/>
          <a:ln/>
        </p:spPr>
        <p:txBody>
          <a:bodyPr wrap="square" rtlCol="0" anchor="ctr"/>
          <a:lstStyle/>
          <a:p>
            <a:pPr indent="0" marL="0">
              <a:buNone/>
            </a:pPr>
            <a:r>
              <a:rPr lang="en-US" sz="1100" b="1" spc="100" kern="0" dirty="0">
                <a:solidFill>
                  <a:srgbClr val="CADCFC"/>
                </a:solidFill>
                <a:latin typeface="Calibri" pitchFamily="34" charset="0"/>
                <a:ea typeface="Calibri" pitchFamily="34" charset="-122"/>
                <a:cs typeface="Calibri" pitchFamily="34" charset="-120"/>
              </a:rPr>
              <a:t>RECOMMENDATION</a:t>
            </a:r>
            <a:endParaRPr lang="en-US" sz="1100" dirty="0"/>
          </a:p>
        </p:txBody>
      </p:sp>
      <p:sp>
        <p:nvSpPr>
          <p:cNvPr id="5" name="Text 3"/>
          <p:cNvSpPr/>
          <p:nvPr/>
        </p:nvSpPr>
        <p:spPr>
          <a:xfrm>
            <a:off x="914400" y="1755648"/>
            <a:ext cx="10332720" cy="822960"/>
          </a:xfrm>
          <a:prstGeom prst="rect">
            <a:avLst/>
          </a:prstGeom>
          <a:noFill/>
          <a:ln/>
        </p:spPr>
        <p:txBody>
          <a:bodyPr wrap="square" rtlCol="0" anchor="t"/>
          <a:lstStyle/>
          <a:p>
            <a:pPr indent="0" marL="0">
              <a:buNone/>
            </a:pPr>
            <a:r>
              <a:rPr lang="en-US" sz="1250" dirty="0">
                <a:solidFill>
                  <a:srgbClr val="FFFFFF"/>
                </a:solidFill>
                <a:latin typeface="Calibri" pitchFamily="34" charset="0"/>
                <a:ea typeface="Calibri" pitchFamily="34" charset="-122"/>
                <a:cs typeface="Calibri" pitchFamily="34" charset="-120"/>
              </a:rPr>
              <a:t>Recommend Finance leadership review the YoY decline in Total Income (-6%, S$3,422m) and NIM compression (-18bps) alongside the QoQ/YoY divergences in Cost-to-Income Ratio and Credit Cost to determine underlying drivers before this data is used in internal or external communications.</a:t>
            </a:r>
            <a:endParaRPr lang="en-US" sz="1250" dirty="0"/>
          </a:p>
        </p:txBody>
      </p:sp>
      <p:sp>
        <p:nvSpPr>
          <p:cNvPr id="6" name="Shape 4"/>
          <p:cNvSpPr/>
          <p:nvPr/>
        </p:nvSpPr>
        <p:spPr>
          <a:xfrm>
            <a:off x="640080" y="2880360"/>
            <a:ext cx="3383280" cy="502920"/>
          </a:xfrm>
          <a:prstGeom prst="roundRect">
            <a:avLst>
              <a:gd name="adj" fmla="val 18182"/>
            </a:avLst>
          </a:prstGeom>
          <a:solidFill>
            <a:srgbClr val="C0392B"/>
          </a:solidFill>
          <a:ln/>
        </p:spPr>
      </p:sp>
      <p:sp>
        <p:nvSpPr>
          <p:cNvPr id="7" name="Text 5"/>
          <p:cNvSpPr/>
          <p:nvPr/>
        </p:nvSpPr>
        <p:spPr>
          <a:xfrm>
            <a:off x="640080" y="2880360"/>
            <a:ext cx="338328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HUMAN APPROVAL REQUIRED: YES</a:t>
            </a:r>
            <a:endParaRPr lang="en-US" sz="1200" dirty="0"/>
          </a:p>
        </p:txBody>
      </p:sp>
      <p:sp>
        <p:nvSpPr>
          <p:cNvPr id="8" name="Text 6"/>
          <p:cNvSpPr/>
          <p:nvPr/>
        </p:nvSpPr>
        <p:spPr>
          <a:xfrm>
            <a:off x="640080" y="3703320"/>
            <a:ext cx="10332720" cy="274320"/>
          </a:xfrm>
          <a:prstGeom prst="rect">
            <a:avLst/>
          </a:prstGeom>
          <a:noFill/>
          <a:ln/>
        </p:spPr>
        <p:txBody>
          <a:bodyPr wrap="square" rtlCol="0" anchor="ctr"/>
          <a:lstStyle/>
          <a:p>
            <a:pPr indent="0" marL="0">
              <a:buNone/>
            </a:pPr>
            <a:r>
              <a:rPr lang="en-US" sz="1100" b="1" spc="100" kern="0" dirty="0">
                <a:solidFill>
                  <a:srgbClr val="CADCFC"/>
                </a:solidFill>
                <a:latin typeface="Calibri" pitchFamily="34" charset="0"/>
                <a:ea typeface="Calibri" pitchFamily="34" charset="-122"/>
                <a:cs typeface="Calibri" pitchFamily="34" charset="-120"/>
              </a:rPr>
              <a:t>DATA GAPS NOTED</a:t>
            </a:r>
            <a:endParaRPr lang="en-US" sz="1100" dirty="0"/>
          </a:p>
        </p:txBody>
      </p:sp>
      <p:sp>
        <p:nvSpPr>
          <p:cNvPr id="9" name="Text 7"/>
          <p:cNvSpPr/>
          <p:nvPr/>
        </p:nvSpPr>
        <p:spPr>
          <a:xfrm>
            <a:off x="640080" y="4005072"/>
            <a:ext cx="10332720" cy="502920"/>
          </a:xfrm>
          <a:prstGeom prst="rect">
            <a:avLst/>
          </a:prstGeom>
          <a:noFill/>
          <a:ln/>
        </p:spPr>
        <p:txBody>
          <a:bodyPr wrap="square" rtlCol="0" anchor="t"/>
          <a:lstStyle/>
          <a:p>
            <a:pPr indent="0" marL="0">
              <a:buNone/>
            </a:pPr>
            <a:r>
              <a:rPr lang="en-US" sz="1150" dirty="0">
                <a:solidFill>
                  <a:srgbClr val="FFFFFF"/>
                </a:solidFill>
                <a:latin typeface="Calibri" pitchFamily="34" charset="0"/>
                <a:ea typeface="Calibri" pitchFamily="34" charset="-122"/>
                <a:cs typeface="Calibri" pitchFamily="34" charset="-120"/>
              </a:rPr>
              <a:t>Cash Flow Statement: value not disclosed this quarter, as UOB does not publish this statement in 1Q/3Q Trading Updates per SGX Listing Rules; only available in Half Year and Full Year reports.</a:t>
            </a:r>
            <a:endParaRPr lang="en-US" sz="1150" dirty="0"/>
          </a:p>
        </p:txBody>
      </p:sp>
      <p:sp>
        <p:nvSpPr>
          <p:cNvPr id="10" name="Shape 8"/>
          <p:cNvSpPr/>
          <p:nvPr/>
        </p:nvSpPr>
        <p:spPr>
          <a:xfrm>
            <a:off x="640080" y="5943600"/>
            <a:ext cx="10881360" cy="0"/>
          </a:xfrm>
          <a:prstGeom prst="line">
            <a:avLst/>
          </a:prstGeom>
          <a:noFill/>
          <a:ln w="12700">
            <a:solidFill>
              <a:srgbClr val="3A4590"/>
            </a:solidFill>
            <a:prstDash val="solid"/>
          </a:ln>
        </p:spPr>
      </p:sp>
      <p:sp>
        <p:nvSpPr>
          <p:cNvPr id="11" name="Text 9"/>
          <p:cNvSpPr/>
          <p:nvPr/>
        </p:nvSpPr>
        <p:spPr>
          <a:xfrm>
            <a:off x="640080" y="6080760"/>
            <a:ext cx="10881360" cy="365760"/>
          </a:xfrm>
          <a:prstGeom prst="rect">
            <a:avLst/>
          </a:prstGeom>
          <a:noFill/>
          <a:ln/>
        </p:spPr>
        <p:txBody>
          <a:bodyPr wrap="square" rtlCol="0" anchor="ctr"/>
          <a:lstStyle/>
          <a:p>
            <a:pPr indent="0" marL="0">
              <a:buNone/>
            </a:pPr>
            <a:r>
              <a:rPr lang="en-US" sz="950" i="1" dirty="0">
                <a:solidFill>
                  <a:srgbClr val="8A94B8"/>
                </a:solidFill>
                <a:latin typeface="Calibri" pitchFamily="34" charset="0"/>
                <a:ea typeface="Calibri" pitchFamily="34" charset="-122"/>
                <a:cs typeface="Calibri" pitchFamily="34" charset="-120"/>
              </a:rPr>
              <a:t>This report was drafted by an AI model (Claude) based on UOB Group's Q1 2026 Performance Highlights. It may contain errors or omissions and must be reviewed against the source document before any external use. Not investment advice.</a:t>
            </a:r>
            <a:endParaRPr lang="en-US" sz="950" dirty="0"/>
          </a:p>
        </p:txBody>
      </p:sp>
      <p:sp>
        <p:nvSpPr>
          <p:cNvPr id="12" name="Text 10"/>
          <p:cNvSpPr/>
          <p:nvPr/>
        </p:nvSpPr>
        <p:spPr>
          <a:xfrm>
            <a:off x="640080" y="6400800"/>
            <a:ext cx="10881360" cy="274320"/>
          </a:xfrm>
          <a:prstGeom prst="rect">
            <a:avLst/>
          </a:prstGeom>
          <a:noFill/>
          <a:ln/>
        </p:spPr>
        <p:txBody>
          <a:bodyPr wrap="square" rtlCol="0" anchor="ctr"/>
          <a:lstStyle/>
          <a:p>
            <a:pPr indent="0" marL="0">
              <a:buNone/>
            </a:pPr>
            <a:r>
              <a:rPr lang="en-US" sz="950" dirty="0">
                <a:solidFill>
                  <a:srgbClr val="8A94B8"/>
                </a:solidFill>
                <a:latin typeface="Calibri" pitchFamily="34" charset="0"/>
                <a:ea typeface="Calibri" pitchFamily="34" charset="-122"/>
                <a:cs typeface="Calibri" pitchFamily="34" charset="-120"/>
              </a:rPr>
              <a:t>Source: UOB Group First Quarter 2026 Performance Highlights, published 2026-05-07</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2026-07-16T04:04:38Z</dcterms:created>
  <dcterms:modified xsi:type="dcterms:W3CDTF">2026-07-16T04:04:38Z</dcterms:modified>
</cp:coreProperties>
</file>